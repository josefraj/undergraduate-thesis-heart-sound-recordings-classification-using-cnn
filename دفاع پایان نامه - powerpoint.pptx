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57" r:id="rId6"/>
    <p:sldId id="258" r:id="rId7"/>
    <p:sldId id="261" r:id="rId8"/>
    <p:sldId id="260" r:id="rId9"/>
    <p:sldId id="265" r:id="rId10"/>
    <p:sldId id="262" r:id="rId11"/>
    <p:sldId id="264" r:id="rId12"/>
    <p:sldId id="263" r:id="rId13"/>
    <p:sldId id="267" r:id="rId14"/>
    <p:sldId id="268" r:id="rId15"/>
    <p:sldId id="269" r:id="rId16"/>
    <p:sldId id="266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2/17/2024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2/17/2024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EKG line" title="Slide Design Pictur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2/17/2024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2/17/2024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2/17/2024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2/17/2024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2/17/2024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2/17/2024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2/17/2024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81760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/>
              <a:pPr/>
              <a:t>2/17/2024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r" defTabSz="914400" rtl="1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r" defTabSz="914400" rtl="1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r" defTabSz="914400" rtl="1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r" defTabSz="914400" rtl="1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r" defTabSz="914400" rtl="1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r" defTabSz="914400" rtl="1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r" defTabSz="914400" rtl="1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r" defTabSz="914400" rtl="1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922" y="332656"/>
            <a:ext cx="4098175" cy="3177380"/>
          </a:xfrm>
        </p:spPr>
        <p:txBody>
          <a:bodyPr>
            <a:normAutofit/>
          </a:bodyPr>
          <a:lstStyle/>
          <a:p>
            <a:pPr algn="ctr"/>
            <a:r>
              <a:rPr lang="fa-IR" sz="6000" dirty="0" err="1">
                <a:cs typeface="2  Elham" panose="00000400000000000000" pitchFamily="2" charset="-78"/>
              </a:rPr>
              <a:t>دسته‌بندی</a:t>
            </a:r>
            <a:br>
              <a:rPr lang="fa-IR" sz="6000" dirty="0">
                <a:cs typeface="2  Elham" panose="00000400000000000000" pitchFamily="2" charset="-78"/>
              </a:rPr>
            </a:br>
            <a:r>
              <a:rPr lang="fa-IR" sz="6000" dirty="0">
                <a:cs typeface="2  Elham" panose="00000400000000000000" pitchFamily="2" charset="-78"/>
              </a:rPr>
              <a:t> صداهای قلب انسان</a:t>
            </a:r>
            <a:br>
              <a:rPr lang="fa-IR" sz="6000" dirty="0">
                <a:cs typeface="2  Elham" panose="00000400000000000000" pitchFamily="2" charset="-78"/>
              </a:rPr>
            </a:br>
            <a:r>
              <a:rPr lang="fa-IR" sz="6000" dirty="0">
                <a:cs typeface="2  Elham" panose="00000400000000000000" pitchFamily="2" charset="-78"/>
              </a:rPr>
              <a:t>مبتنی بر </a:t>
            </a:r>
            <a:r>
              <a:rPr lang="en-US" dirty="0">
                <a:cs typeface="2  Davat" panose="00000400000000000000" pitchFamily="2" charset="-78"/>
              </a:rPr>
              <a:t>CNN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9923" y="4149080"/>
            <a:ext cx="4098175" cy="2376264"/>
          </a:xfrm>
        </p:spPr>
        <p:txBody>
          <a:bodyPr>
            <a:normAutofit/>
          </a:bodyPr>
          <a:lstStyle/>
          <a:p>
            <a:pPr algn="ctr"/>
            <a:r>
              <a:rPr lang="fa-IR" dirty="0"/>
              <a:t>یوسف  رجب زاده</a:t>
            </a:r>
          </a:p>
          <a:p>
            <a:pPr algn="ctr"/>
            <a:r>
              <a:rPr lang="fa-IR" dirty="0"/>
              <a:t>استاد راهنما : دکتر حسین ضمیری</a:t>
            </a:r>
          </a:p>
          <a:p>
            <a:pPr algn="ctr"/>
            <a:endParaRPr lang="fa-IR" dirty="0"/>
          </a:p>
          <a:p>
            <a:pPr algn="ctr"/>
            <a:r>
              <a:rPr lang="fa-IR" dirty="0"/>
              <a:t>زمستان 1402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>
                <a:cs typeface="2  Elham" panose="00000400000000000000" pitchFamily="2" charset="-78"/>
              </a:rPr>
              <a:t>چکیده</a:t>
            </a:r>
            <a:endParaRPr lang="en-US" dirty="0">
              <a:cs typeface="2  Elham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799"/>
            <a:ext cx="10058400" cy="2752329"/>
          </a:xfrm>
        </p:spPr>
        <p:txBody>
          <a:bodyPr>
            <a:normAutofit/>
          </a:bodyPr>
          <a:lstStyle/>
          <a:p>
            <a:pPr marL="0" indent="0" algn="justLow">
              <a:buNone/>
            </a:pPr>
            <a:r>
              <a:rPr lang="fa-IR" dirty="0">
                <a:cs typeface="B Nazanin" panose="00000400000000000000" pitchFamily="2" charset="-78"/>
              </a:rPr>
              <a:t>صدای قلب که نتیجه </a:t>
            </a:r>
            <a:r>
              <a:rPr lang="fa-IR" dirty="0" err="1">
                <a:cs typeface="B Nazanin" panose="00000400000000000000" pitchFamily="2" charset="-78"/>
              </a:rPr>
              <a:t>فعالیت‌های</a:t>
            </a:r>
            <a:r>
              <a:rPr lang="fa-IR" dirty="0">
                <a:cs typeface="B Nazanin" panose="00000400000000000000" pitchFamily="2" charset="-78"/>
              </a:rPr>
              <a:t> مکانیکی عضله قلب است، </a:t>
            </a:r>
            <a:r>
              <a:rPr lang="fa-IR" dirty="0" err="1">
                <a:cs typeface="B Nazanin" panose="00000400000000000000" pitchFamily="2" charset="-78"/>
              </a:rPr>
              <a:t>می‌تواند</a:t>
            </a:r>
            <a:r>
              <a:rPr lang="fa-IR" dirty="0">
                <a:cs typeface="B Nazanin" panose="00000400000000000000" pitchFamily="2" charset="-78"/>
              </a:rPr>
              <a:t> اطلاعات ارزشمندی درباره کارایی </a:t>
            </a:r>
            <a:r>
              <a:rPr lang="fa-IR" dirty="0" err="1">
                <a:cs typeface="B Nazanin" panose="00000400000000000000" pitchFamily="2" charset="-78"/>
              </a:rPr>
              <a:t>دریچه‌های</a:t>
            </a:r>
            <a:r>
              <a:rPr lang="fa-IR" dirty="0">
                <a:cs typeface="B Nazanin" panose="00000400000000000000" pitchFamily="2" charset="-78"/>
              </a:rPr>
              <a:t> قلبی ارائه دهد. ولی برای شنیدن و تفکیک این صدا با گوشی پزشکی، </a:t>
            </a:r>
            <a:r>
              <a:rPr lang="fa-IR" dirty="0" err="1">
                <a:cs typeface="B Nazanin" panose="00000400000000000000" pitchFamily="2" charset="-78"/>
              </a:rPr>
              <a:t>چالش‌های</a:t>
            </a:r>
            <a:r>
              <a:rPr lang="fa-IR" dirty="0">
                <a:cs typeface="B Nazanin" panose="00000400000000000000" pitchFamily="2" charset="-78"/>
              </a:rPr>
              <a:t> زیادی وجود دارد. </a:t>
            </a:r>
          </a:p>
        </p:txBody>
      </p:sp>
      <p:sp>
        <p:nvSpPr>
          <p:cNvPr id="4" name="Callout: Left Arrow 3">
            <a:extLst>
              <a:ext uri="{FF2B5EF4-FFF2-40B4-BE49-F238E27FC236}">
                <a16:creationId xmlns:a16="http://schemas.microsoft.com/office/drawing/2014/main" id="{3372F056-AADE-4A8C-E620-E7D651875FA7}"/>
              </a:ext>
            </a:extLst>
          </p:cNvPr>
          <p:cNvSpPr/>
          <p:nvPr/>
        </p:nvSpPr>
        <p:spPr>
          <a:xfrm>
            <a:off x="4583832" y="2924944"/>
            <a:ext cx="6541368" cy="1656184"/>
          </a:xfrm>
          <a:prstGeom prst="leftArrowCallout">
            <a:avLst>
              <a:gd name="adj1" fmla="val 34014"/>
              <a:gd name="adj2" fmla="val 20493"/>
              <a:gd name="adj3" fmla="val 41901"/>
              <a:gd name="adj4" fmla="val 822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426C7-F9BB-E93E-D221-A6EDC19EF4D9}"/>
              </a:ext>
            </a:extLst>
          </p:cNvPr>
          <p:cNvSpPr txBox="1"/>
          <p:nvPr/>
        </p:nvSpPr>
        <p:spPr>
          <a:xfrm>
            <a:off x="5735960" y="3055456"/>
            <a:ext cx="5472608" cy="139268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28600" marR="0" lvl="0" indent="-228600" algn="r" defTabSz="914400" rtl="1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▪"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محدود بودن قابلیت شنوایی انسان</a:t>
            </a:r>
          </a:p>
          <a:p>
            <a:pPr marL="228600" marR="0" lvl="0" indent="-228600" algn="r" defTabSz="914400" rtl="1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▪"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عدم ثبات و پایداری صدای قلب</a:t>
            </a:r>
          </a:p>
          <a:p>
            <a:pPr marL="228600" marR="0" lvl="0" indent="-228600" algn="r" defTabSz="914400" rtl="1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Pct val="100000"/>
              <a:buFont typeface="Arial" pitchFamily="34" charset="0"/>
              <a:buChar char="▪"/>
              <a:tabLst/>
              <a:defRPr/>
            </a:pP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کم بودن انرژی صداهای ناشی از </a:t>
            </a:r>
            <a:r>
              <a:rPr kumimoji="0" lang="fa-I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بیماری‌ها</a:t>
            </a:r>
            <a:r>
              <a:rPr kumimoji="0" lang="fa-IR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نسبت به صداهای سالم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8EBB9F-4028-C358-5A1E-0E219CE5F187}"/>
              </a:ext>
            </a:extLst>
          </p:cNvPr>
          <p:cNvSpPr/>
          <p:nvPr/>
        </p:nvSpPr>
        <p:spPr>
          <a:xfrm>
            <a:off x="1454695" y="3038417"/>
            <a:ext cx="2808312" cy="14267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AD08C-47D4-65AE-2A66-2AD702AF2E3C}"/>
              </a:ext>
            </a:extLst>
          </p:cNvPr>
          <p:cNvSpPr txBox="1"/>
          <p:nvPr/>
        </p:nvSpPr>
        <p:spPr>
          <a:xfrm>
            <a:off x="1454695" y="3420278"/>
            <a:ext cx="280831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dirty="0">
                <a:solidFill>
                  <a:schemeClr val="bg1"/>
                </a:solidFill>
                <a:cs typeface="B Nazanin" panose="00000400000000000000" pitchFamily="2" charset="-78"/>
              </a:rPr>
              <a:t>تشخیص </a:t>
            </a:r>
            <a:r>
              <a:rPr lang="fa-IR" dirty="0" err="1">
                <a:solidFill>
                  <a:schemeClr val="bg1"/>
                </a:solidFill>
                <a:cs typeface="B Nazanin" panose="00000400000000000000" pitchFamily="2" charset="-78"/>
              </a:rPr>
              <a:t>بیماری‌ها</a:t>
            </a:r>
            <a:r>
              <a:rPr lang="fa-IR" dirty="0">
                <a:solidFill>
                  <a:schemeClr val="bg1"/>
                </a:solidFill>
                <a:cs typeface="B Nazanin" panose="00000400000000000000" pitchFamily="2" charset="-78"/>
              </a:rPr>
              <a:t> با استفاده از صدای قلب نیاز به تمرین و تجربه زیاد دارد.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A01B89-2074-F9E1-4435-80778512D612}"/>
              </a:ext>
            </a:extLst>
          </p:cNvPr>
          <p:cNvSpPr txBox="1"/>
          <p:nvPr/>
        </p:nvSpPr>
        <p:spPr>
          <a:xfrm>
            <a:off x="1066801" y="4797152"/>
            <a:ext cx="10058400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Low" rtl="1"/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چون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سوفل‌ها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دارای اطلاعات تشخیصی زیادی در هر دو حوزه زمان و فرکانس هستند،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روش‌های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استخراج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ویژگی‌های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زمان - فرکانس بهترین روش برای پردازش این صداهای غیرطبیعی هستند. در این پژوهش، برای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دسته‌بندی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صداهای قلب، از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ویژگی‌های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حوزه زمان- فرکانس که از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سیگنال‌های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صدای قلب استخراج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شده‌اند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استفاده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کرده‌ایم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در مرحله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دسته‌بندی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، از چند لایه شبکه عصبی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کانولوشنی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بهره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گرفته‌ایم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عملکرد روش پیشنهاد شده را با استفاده از تابع هزینه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Categorical_Crossentropy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 معیار دقت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Binary_Accuracy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ارزیابی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کرده‌ایم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روش پیشنهاد شده را بر روی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دادگان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چالش 2016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فیزیونت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پیاده‌سازی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کرده‌ایم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نتایج نشان میدهند که روش پیشنهاد شده عملکرد بهتر و دقت متوسط 92 % در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دسته‌بندی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صداهای قلب دارد.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>
                <a:cs typeface="2  Elham" panose="00000400000000000000" pitchFamily="2" charset="-78"/>
              </a:rPr>
              <a:t>فصل اول : پیشگفتار</a:t>
            </a:r>
            <a:endParaRPr lang="en-US" dirty="0">
              <a:cs typeface="2  Elham" panose="000004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F130D-42FE-C01A-E6D3-2F45CFAB5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28799"/>
            <a:ext cx="10058400" cy="4572001"/>
          </a:xfrm>
        </p:spPr>
        <p:txBody>
          <a:bodyPr>
            <a:normAutofit/>
          </a:bodyPr>
          <a:lstStyle/>
          <a:p>
            <a:pPr marL="0" indent="0" algn="justLow">
              <a:buNone/>
            </a:pP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بیماری‌های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قلبی و عروقی در سراسر جهان از عوامل اصلی مرگ و میر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انسان‌ها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هستند. آمار منتشر شده توسط سازمان جهانی بهداشت در سال 2005 نشان می دهد که هر سال حدود 17.5 میلیون نفر در دنیا به خاطر این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بیماری‌ها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فوت می کنند. این عدد 30 درصد از کل مرگ و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میرهای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جهان را شامل می شود و پروژه های آماری پیش بینی می کنند که تا سال 2030 تعداد فوت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شدگان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به دلیل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بیماری‌های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قلبی به 23.6 میلیون نفر برسد.</a:t>
            </a:r>
          </a:p>
          <a:p>
            <a:pPr marL="0" indent="0" algn="justLow">
              <a:buNone/>
            </a:pPr>
            <a:r>
              <a:rPr lang="fa-IR" sz="2000" dirty="0"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بررسی صدای قلب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برای غربالگری، تشخیص و درمان اولیه مناسب است چون روش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غیرتهاجمی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کم هزینه، آسان و قابل اطمینان است. همچنین با استفاده از این روش، می توان اطلاعات مفید درباره عملکرد قلب به دست آورد و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ناهنجاری‌ها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اختلالات قلب را تعیین کرد. </a:t>
            </a:r>
          </a:p>
          <a:p>
            <a:pPr marL="0" indent="0" algn="justLow">
              <a:buNone/>
            </a:pP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دسته‌بندی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خودکار سیگنال صدای قلب با استفاده از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سامانه‌های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کامپیوتر و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نرم‌افزار‌های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تحليلي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مي‌تواند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دقت و صحت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تشخيص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را به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شكل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قابل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توجّه‌اي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بالا برده و همچنین مراجعه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مكرر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به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مراكز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درماني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هزینه های بیمار را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كاهش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دهد. </a:t>
            </a:r>
          </a:p>
          <a:p>
            <a:pPr marL="0" indent="0" algn="justLow">
              <a:buNone/>
            </a:pP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برای شنیدن صداهای قلب، معمولا از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گوشی‌های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طبی یا دستگاه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فونوکاردیوگراف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که صدا را ضبط می کند، استفاده می شود. صداهای قلب که از طریق این دستگاه شنیده می شوند، به دو بخش اصلی صدای اول 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S1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 و صدای دوم 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S2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 تقسیم می شوند. هر صدای دیگر که در کنار این دو صدا باشد، به عنوان صدای غیرطبیعی قلب شناسایی می شود که برای تشخیص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بیماری‌های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قلبی مناسب هستند.</a:t>
            </a:r>
            <a:endParaRPr lang="fa-IR" sz="2000" dirty="0"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D09B633-044D-CC58-3E42-52E245391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755646"/>
            <a:ext cx="7008810" cy="3346706"/>
          </a:xfrm>
          <a:prstGeom prst="rect">
            <a:avLst/>
          </a:prstGeom>
          <a:noFill/>
        </p:spPr>
      </p:pic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0CCC5FF-D946-D0C1-CDCF-BAB5418F5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08168" y="548680"/>
            <a:ext cx="4104456" cy="5656314"/>
          </a:xfrm>
        </p:spPr>
        <p:txBody>
          <a:bodyPr/>
          <a:lstStyle/>
          <a:p>
            <a:pPr indent="144145" algn="justLow" rtl="1">
              <a:lnSpc>
                <a:spcPct val="112000"/>
              </a:lnSpc>
              <a:spcAft>
                <a:spcPts val="800"/>
              </a:spcAft>
            </a:pP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شکل 1-1 : سیگنال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PCG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 صداهای قلب</a:t>
            </a:r>
          </a:p>
          <a:p>
            <a:pPr indent="144145" algn="justLow" rtl="1">
              <a:lnSpc>
                <a:spcPct val="112000"/>
              </a:lnSpc>
              <a:spcAft>
                <a:spcPts val="800"/>
              </a:spcAft>
            </a:pPr>
            <a:endParaRPr lang="fa-IR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indent="144145" algn="justLow" rtl="1">
              <a:lnSpc>
                <a:spcPct val="112000"/>
              </a:lnSpc>
              <a:spcAft>
                <a:spcPts val="800"/>
              </a:spcAft>
            </a:pP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4 صدای مختلف را می توان از قلب شنید که با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نام‌های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صدای اول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سیستول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(Sys)</a:t>
            </a:r>
            <a:r>
              <a:rPr lang="en-US" sz="1800" baseline="30000" dirty="0"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فاصله بین صدای اول تا دوم، صدای دوم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دیاستول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(Dia)</a:t>
            </a:r>
            <a:r>
              <a:rPr lang="en-US" sz="1800" baseline="30000" dirty="0"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فاصله بین صدای دوم تا اول بعدی، مشخص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شده‌اند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همچنین،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فعالیت‌های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مکانیکی قلب ممکن است صداهای دیگری را نیز ایجاد کنند مانند صدای سوم قلب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(S3)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 صدای چهارم قلب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(S4)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که به عنوان صداهای ضعیف قلبی شناخته می شوند.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71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>
                <a:cs typeface="2  Elham" panose="00000400000000000000" pitchFamily="2" charset="-78"/>
              </a:rPr>
              <a:t>اهداف تحقیق</a:t>
            </a:r>
            <a:endParaRPr lang="en-US" dirty="0">
              <a:cs typeface="2  Elham" panose="00000400000000000000" pitchFamily="2" charset="-7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C7A02C-80DD-533B-3802-8F8574FB6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0" y="1825624"/>
            <a:ext cx="10058400" cy="4575175"/>
          </a:xfrm>
        </p:spPr>
        <p:txBody>
          <a:bodyPr>
            <a:normAutofit/>
          </a:bodyPr>
          <a:lstStyle/>
          <a:p>
            <a:pPr algn="justLow"/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در چند دهه اخیر، تحقیقات زیادی در زمینه تحلیل سیگنال صدای قلب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PCG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برای تشخیص اتوماتیک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بیماری‌های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قلبی صورت گرفته است. این تحقیقات ارزشمند هستند، اما بیشتر روی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بخش‌بندی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سیگنال صوتی، حذف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نویز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آنالیز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طیفی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قسمت‌های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مختلف سیگنال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PCG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شامل صدای اول و دوم قلب و در نهایت،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دسته‌بندی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بیماری‌های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قلبی با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روش‌های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اتوماتیک متمرکز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شده‌اند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که هنوز به مرحله کاربرد کلینیکی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نرسیده‌اند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یکی از علل مهم این وضعیت، عدم داشتن شناخت و دانش کافی از ساختارهای ذاتی و رفتارهای بنیادین سیگنال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PCG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است. به بیان دیگر، کارهای کمی برای شناسایی ساختار اجزای مختلف سیگنال و استخراج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ويژگي‌هایي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که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نشأت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گرفته از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ماهيت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سيگنال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هستند انجام شده است به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همين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خاطر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اين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مسئله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به‌عنوان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موضوع چالش 2016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فيزيونت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انتخاب شده است. </a:t>
            </a:r>
          </a:p>
          <a:p>
            <a:pPr algn="justLow"/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در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اين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پايان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نامة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با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توجة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به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ماهيت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غيرثابت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سيگنال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صداي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قلب، بر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تحليل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سيگنال‌هاي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PCG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در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حوزة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زمان -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فركانسي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استخراج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ويژگي‌هاي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حوزة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زمان -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فركانسي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از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اين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سيگنال‌ها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براي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تشخيص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اتوماتيك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ناهنجاري‌هاي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قلبي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پاية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است. کارایی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اين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ويژگي‌ها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در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دستة‌بندي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سيگنال‌هاي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غیرایستان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به‌طوركلّى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سيگنال‌هاى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بیولوژیكى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به‌طورخاص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در تحقیقات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قبلى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نشان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دادة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شده است.</a:t>
            </a:r>
            <a:endParaRPr lang="fa-IR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2184" y="404664"/>
            <a:ext cx="3932237" cy="864096"/>
          </a:xfrm>
        </p:spPr>
        <p:txBody>
          <a:bodyPr>
            <a:normAutofit fontScale="90000"/>
          </a:bodyPr>
          <a:lstStyle/>
          <a:p>
            <a:r>
              <a:rPr lang="fa-IR" dirty="0">
                <a:cs typeface="2  Elham" panose="00000400000000000000" pitchFamily="2" charset="-78"/>
              </a:rPr>
              <a:t>فصل دوم : پیشینه پژوهش</a:t>
            </a:r>
            <a:endParaRPr lang="en-US" dirty="0">
              <a:cs typeface="2  Elham" panose="00000400000000000000" pitchFamily="2" charset="-78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1412776"/>
            <a:ext cx="3932237" cy="5184576"/>
          </a:xfrm>
        </p:spPr>
        <p:txBody>
          <a:bodyPr>
            <a:normAutofit lnSpcReduction="10000"/>
          </a:bodyPr>
          <a:lstStyle/>
          <a:p>
            <a:pPr algn="justLow"/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جدول 2-1 : مروری بر مطالعات برجسته در زمینه تحلیل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سیگنال‌های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PCG</a:t>
            </a:r>
            <a:endParaRPr lang="fa-I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algn="justLow"/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تحلیل این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روش‌ها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نشان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می‌دهد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که پردازش سیگنال، یادگیری ماشین و یادگیری عمیق سه رویکرد اصلی مورد بررسی برای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طبقه‌بندی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سیگنال‌های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PCG 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هستند. از بین این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روش‌ها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یادگیری عمیق به عنوان یک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راه‌حل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جذاب در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سال‌های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اخیر به چشم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می‌خورد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عملکردی قابل قبول را گزارش کرده است. جدول 2-1 همچنین نشان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می‌دهد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که هم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داده‌های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عمومی و هم خصوصی در مطالعات مختلف استفاده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شده‌اند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</a:t>
            </a:r>
          </a:p>
          <a:p>
            <a:pPr algn="justLow"/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مرحله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پیش‌پردازش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به طور کلی، شامل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فیلترینگ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کاهش نمونه برای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روش‌های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مبتنی بر پردازش سیگنال است. اما برای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روش‌های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مبتنی بر یادگیری ماشین،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تکنیک‌های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پیشرفته‌ای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مانند تبدیل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موجک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متقاطع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(CWT) 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استفاده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شده‌اند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طبقه‌بندی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با استفاده از اصول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هیوریستیکی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مانند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مکان‌های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S1 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</a:t>
            </a:r>
            <a:r>
              <a:rPr lang="fa-IR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S2 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 غیره یا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روش‌های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نظارت شده مانند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SVM 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یا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DNN 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انجام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می‌شود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طبقه‌بندی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(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دودویی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یا </a:t>
            </a:r>
            <a:r>
              <a:rPr lang="fa-I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چندکلاسه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 در سطح سیگنال یا چرخه در مطالعات مختلف گزارش شده است.</a:t>
            </a:r>
            <a:endParaRPr lang="en-US" sz="1800" dirty="0">
              <a:cs typeface="B Nazanin" panose="00000400000000000000" pitchFamily="2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3573BB-499E-AD8E-DDFB-2719A6108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600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9D9D9"/>
            </a:gs>
            <a:gs pos="100000">
              <a:schemeClr val="bg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>
                <a:cs typeface="2  Elham" panose="00000400000000000000" pitchFamily="2" charset="-78"/>
              </a:rPr>
              <a:t>فصل سوم : پایگاه های داده</a:t>
            </a:r>
            <a:endParaRPr lang="en-US" dirty="0">
              <a:cs typeface="2  Elham" panose="00000400000000000000" pitchFamily="2" charset="-78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66800" y="1844824"/>
            <a:ext cx="10058400" cy="4913956"/>
          </a:xfrm>
        </p:spPr>
        <p:txBody>
          <a:bodyPr/>
          <a:lstStyle/>
          <a:p>
            <a:pPr indent="0" algn="justLow" rtl="1">
              <a:lnSpc>
                <a:spcPct val="112000"/>
              </a:lnSpc>
              <a:spcAft>
                <a:spcPts val="800"/>
              </a:spcAft>
              <a:buNone/>
            </a:pP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تجزیه و تحلیل صدای قلب یک تکنیک مهم برای تشخیص و نظارت بر شرایط مختلف قلبی است. با این حال، کیفیت و در دسترس بودن داده های صدای قلب در منابع مختلف بسیار متفاوت است. در این بخش، ما چهار مجموعه داده از ضبط صدای قلب را که برای کارهای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طبقه‌بندی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صدای قلب استفاده یا پیشنهاد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شده‌اند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مقایسه کرده ‌ایم. ما مجموعه داده ها را بر اساس اندازه نمونه، تنوع، کیفیت، برچسب گذاری، حاشیه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نویسی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توضیح و دسترسی ارزیابی کردیم. ما همچنین مزایا و معایب هر مجموعه داده را برای هدف تحقیق خود مورد بحث قرار داده ایم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</a:t>
            </a:r>
            <a:endParaRPr lang="fa-IR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742950" lvl="1" indent="-285750" algn="just" rtl="1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صدای قلب </a:t>
            </a:r>
            <a:r>
              <a:rPr lang="fa-IR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میشیگان</a:t>
            </a: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 (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OMHSML</a:t>
            </a: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)</a:t>
            </a:r>
            <a:endParaRPr lang="en-US" sz="20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742950" lvl="1" indent="-285750" algn="just" rtl="1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چالش </a:t>
            </a:r>
            <a:r>
              <a:rPr lang="fa-IR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پاسکال</a:t>
            </a: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 2011 (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CHSC2011</a:t>
            </a: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)</a:t>
            </a:r>
            <a:endParaRPr lang="en-US" sz="20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742950" lvl="1" indent="-285750" algn="just" rtl="1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مجموعه </a:t>
            </a:r>
            <a:r>
              <a:rPr lang="fa-IR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پادکست</a:t>
            </a: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fa-IR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صدای‌های</a:t>
            </a: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 قلب تگزاس(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THI</a:t>
            </a: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)</a:t>
            </a:r>
            <a:endParaRPr lang="en-US" sz="20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742950" lvl="1" indent="-285750" algn="just" rtl="1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چالش </a:t>
            </a:r>
            <a:r>
              <a:rPr lang="fa-IR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فیزیونت</a:t>
            </a: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 2016</a:t>
            </a:r>
            <a:endParaRPr lang="en-US" sz="20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742950" indent="-514350" algn="justLow" rtl="1">
              <a:lnSpc>
                <a:spcPct val="112000"/>
              </a:lnSpc>
              <a:spcAft>
                <a:spcPts val="800"/>
              </a:spcAft>
              <a:buFont typeface="+mj-lt"/>
              <a:buAutoNum type="romanUcPeriod"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6D01F65-FC94-3C21-5C3F-93CC395AA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359" y="462434"/>
            <a:ext cx="3932237" cy="518294"/>
          </a:xfrm>
        </p:spPr>
        <p:txBody>
          <a:bodyPr>
            <a:normAutofit/>
          </a:bodyPr>
          <a:lstStyle/>
          <a:p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جدول 3-1 :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پراستفاده‌ترین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دیتاست‌های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PCG</a:t>
            </a:r>
            <a:endParaRPr lang="en-US" sz="1800" dirty="0">
              <a:cs typeface="B Nazanin" panose="00000400000000000000" pitchFamily="2" charset="-78"/>
            </a:endParaRPr>
          </a:p>
        </p:txBody>
      </p:sp>
      <p:pic>
        <p:nvPicPr>
          <p:cNvPr id="2" name="Picture 1" descr="A white rectangular box with black text&#10;&#10;Description automatically generated">
            <a:extLst>
              <a:ext uri="{FF2B5EF4-FFF2-40B4-BE49-F238E27FC236}">
                <a16:creationId xmlns:a16="http://schemas.microsoft.com/office/drawing/2014/main" id="{77907008-A0A8-B7A0-808B-85D46A0B9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202458"/>
            <a:ext cx="7008810" cy="2453082"/>
          </a:xfrm>
          <a:prstGeom prst="rect">
            <a:avLst/>
          </a:prstGeo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33E9F55-D246-6CE1-938C-2A7899341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35240" y="1124744"/>
            <a:ext cx="3932237" cy="5616624"/>
          </a:xfrm>
        </p:spPr>
        <p:txBody>
          <a:bodyPr>
            <a:normAutofit fontScale="92500" lnSpcReduction="20000"/>
          </a:bodyPr>
          <a:lstStyle/>
          <a:p>
            <a:pPr indent="144145" algn="justLow" rtl="1">
              <a:lnSpc>
                <a:spcPct val="112000"/>
              </a:lnSpc>
              <a:spcAft>
                <a:spcPts val="800"/>
              </a:spcAft>
            </a:pPr>
            <a:r>
              <a:rPr lang="fa-I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بر اساس مقایسه ما، ما پیشنهاد می کنیم که مجموعه داده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7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PhysioNet/</a:t>
            </a:r>
            <a:r>
              <a:rPr lang="en-US" sz="17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CinC</a:t>
            </a:r>
            <a:r>
              <a:rPr lang="en-US" sz="17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Challenge 2016 </a:t>
            </a:r>
            <a:r>
              <a:rPr lang="fa-I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ارجح ترین و کاربردی ترین مجموعه داده برای تحقیق ما می باشد. زیرا دارای مزایای زیر است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:</a:t>
            </a:r>
          </a:p>
          <a:p>
            <a:pPr marL="342900" lvl="0" indent="-342900" algn="justLow" rtl="1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a-I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دارای بزرگترین و متنوع ترین حجم نمونه است که می تواند تعمیم پذیری و اعتبار نتایج ما را افزایش دهد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</a:t>
            </a:r>
          </a:p>
          <a:p>
            <a:pPr marL="342900" lvl="0" indent="-342900" algn="justLow" rtl="1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a-I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دارای بالاترین کیفیت و ثبات ضبط است که می تواند خطاها و </a:t>
            </a:r>
            <a:r>
              <a:rPr lang="fa-IR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سوگیری</a:t>
            </a:r>
            <a:r>
              <a:rPr lang="fa-I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های ناشی از </a:t>
            </a:r>
            <a:r>
              <a:rPr lang="fa-IR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نویز</a:t>
            </a:r>
            <a:r>
              <a:rPr lang="fa-I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یا مصنوعات را کاهش دهد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</a:t>
            </a:r>
          </a:p>
          <a:p>
            <a:pPr marL="342900" lvl="0" indent="-342900" algn="justLow" rtl="1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a-I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دارای </a:t>
            </a:r>
            <a:r>
              <a:rPr lang="fa-IR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استانداردترین</a:t>
            </a:r>
            <a:r>
              <a:rPr lang="fa-I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عینی ترین برچسب ها است که می تواند ارزیابی و مقایسه </a:t>
            </a:r>
            <a:r>
              <a:rPr lang="fa-IR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الگوریتم</a:t>
            </a:r>
            <a:r>
              <a:rPr lang="fa-I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های ما را تسهیل کند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</a:t>
            </a:r>
          </a:p>
          <a:p>
            <a:pPr marL="342900" lvl="0" indent="-342900" algn="justLow" rtl="1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a-I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جدیدترین و مرتبط ترین داده ها را دارد که می تواند وضعیت فعلی و روند تجزیه و تحلیل صدای قلب را منعکس کند</a:t>
            </a:r>
            <a:r>
              <a:rPr lang="en-US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86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10357792" cy="1325563"/>
          </a:xfrm>
        </p:spPr>
        <p:txBody>
          <a:bodyPr/>
          <a:lstStyle/>
          <a:p>
            <a:pPr algn="r"/>
            <a:r>
              <a:rPr lang="fa-IR" dirty="0">
                <a:cs typeface="2  Elham" panose="00000400000000000000" pitchFamily="2" charset="-78"/>
              </a:rPr>
              <a:t>فصل چهارم : </a:t>
            </a:r>
            <a:r>
              <a:rPr lang="fa-IR" dirty="0" err="1">
                <a:cs typeface="2  Elham" panose="00000400000000000000" pitchFamily="2" charset="-78"/>
              </a:rPr>
              <a:t>الگوریتم</a:t>
            </a:r>
            <a:r>
              <a:rPr lang="fa-IR" dirty="0">
                <a:cs typeface="2  Elham" panose="00000400000000000000" pitchFamily="2" charset="-78"/>
              </a:rPr>
              <a:t> پیشنهادی جهت </a:t>
            </a:r>
            <a:r>
              <a:rPr lang="fa-IR" dirty="0" err="1">
                <a:cs typeface="2  Elham" panose="00000400000000000000" pitchFamily="2" charset="-78"/>
              </a:rPr>
              <a:t>دسته‌بندی</a:t>
            </a:r>
            <a:r>
              <a:rPr lang="fa-IR" dirty="0">
                <a:cs typeface="2  Elham" panose="00000400000000000000" pitchFamily="2" charset="-78"/>
              </a:rPr>
              <a:t> سیگنال </a:t>
            </a:r>
            <a:r>
              <a:rPr lang="en-US" sz="3200" dirty="0">
                <a:cs typeface="2  Elham" panose="00000400000000000000" pitchFamily="2" charset="-78"/>
              </a:rPr>
              <a:t>PCG</a:t>
            </a:r>
            <a:endParaRPr lang="en-US" dirty="0">
              <a:cs typeface="2  Elham" panose="00000400000000000000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A7E714-A095-FE07-2F85-5CE8FA117A36}"/>
                  </a:ext>
                </a:extLst>
              </p:cNvPr>
              <p:cNvSpPr txBox="1"/>
              <p:nvPr/>
            </p:nvSpPr>
            <p:spPr>
              <a:xfrm>
                <a:off x="922784" y="1772816"/>
                <a:ext cx="10501808" cy="132343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justLow" rtl="1"/>
                <a:r>
                  <a:rPr lang="fa-IR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تحلیل </a:t>
                </a:r>
                <a:r>
                  <a:rPr lang="fa-IR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سیگنال‌های</a:t>
                </a:r>
                <a:r>
                  <a:rPr lang="fa-IR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غیرایستان</a:t>
                </a:r>
                <a:r>
                  <a:rPr lang="fa-IR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(که محتوای فرکانسی آنها با زمان تغییر میکند) در حوزه زمان - فرکانس صورت میگیرد که در آن اطلاعات زمانی و فرکانسی سیگنال </a:t>
                </a:r>
                <a:r>
                  <a:rPr lang="fa-IR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توأمًا</a:t>
                </a:r>
                <a:r>
                  <a:rPr lang="fa-IR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در دسترس میباشند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.</a:t>
                </a: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برای انتقال سیگنال زمان گسسته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نقطه‌ایی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dirty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x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[n]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به حوزه زمان - فرکانس میتوان از تبدیل زمان - فرکانس درجه دوم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(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QTFD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) </a:t>
                </a:r>
                <a:r>
                  <a:rPr lang="fa-IR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استفاده کرد که در رابطه (1) نشان داده شده است. تبدیل زمان </a:t>
                </a:r>
                <a:r>
                  <a:rPr lang="fa-IR" sz="2000" dirty="0">
                    <a:effectLst/>
                    <a:ea typeface="Calibri" panose="020F0502020204030204" pitchFamily="34" charset="0"/>
                    <a:cs typeface="B Nazanin" panose="00000400000000000000" pitchFamily="2" charset="-78"/>
                  </a:rPr>
                  <a:t>–</a:t>
                </a:r>
                <a:r>
                  <a:rPr lang="fa-IR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فرکانس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x[n] </a:t>
                </a:r>
                <a:r>
                  <a:rPr lang="fa-IR" sz="2000" dirty="0">
                    <a:effectLst/>
                    <a:latin typeface="B Nazanin" panose="00000400000000000000" pitchFamily="2" charset="-78"/>
                    <a:ea typeface="Calibri" panose="020F0502020204030204" pitchFamily="34" charset="0"/>
                    <a:cs typeface="B Nazanin" panose="00000400000000000000" pitchFamily="2" charset="-78"/>
                  </a:rPr>
                  <a:t>را با،</a:t>
                </a:r>
                <a:r>
                  <a:rPr lang="fa-IR" sz="2000" dirty="0">
                    <a:effectLst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fa-IR" sz="2000" dirty="0">
                    <a:effectLst/>
                    <a:latin typeface="B Nazanin" panose="00000400000000000000" pitchFamily="2" charset="-78"/>
                    <a:ea typeface="Calibri" panose="020F0502020204030204" pitchFamily="34" charset="0"/>
                    <a:cs typeface="B Nazanin" panose="00000400000000000000" pitchFamily="2" charset="-78"/>
                  </a:rPr>
                  <a:t> نمایش </a:t>
                </a:r>
                <a:r>
                  <a:rPr lang="fa-IR" sz="2000" dirty="0" err="1">
                    <a:effectLst/>
                    <a:latin typeface="B Nazanin" panose="00000400000000000000" pitchFamily="2" charset="-78"/>
                    <a:ea typeface="Calibri" panose="020F0502020204030204" pitchFamily="34" charset="0"/>
                    <a:cs typeface="B Nazanin" panose="00000400000000000000" pitchFamily="2" charset="-78"/>
                  </a:rPr>
                  <a:t>می‌دهیم</a:t>
                </a:r>
                <a:r>
                  <a:rPr lang="fa-IR" sz="2000" dirty="0">
                    <a:effectLst/>
                    <a:latin typeface="B Nazanin" panose="00000400000000000000" pitchFamily="2" charset="-78"/>
                    <a:ea typeface="Calibri" panose="020F0502020204030204" pitchFamily="34" charset="0"/>
                    <a:cs typeface="B Nazanin" panose="00000400000000000000" pitchFamily="2" charset="-78"/>
                  </a:rPr>
                  <a:t> که یک </a:t>
                </a:r>
                <a:r>
                  <a:rPr lang="fa-IR" sz="2000" dirty="0" err="1">
                    <a:effectLst/>
                    <a:latin typeface="B Nazanin" panose="00000400000000000000" pitchFamily="2" charset="-78"/>
                    <a:ea typeface="Calibri" panose="020F0502020204030204" pitchFamily="34" charset="0"/>
                    <a:cs typeface="B Nazanin" panose="00000400000000000000" pitchFamily="2" charset="-78"/>
                  </a:rPr>
                  <a:t>ماتریس</a:t>
                </a:r>
                <a:r>
                  <a:rPr lang="fa-IR" sz="2000" dirty="0">
                    <a:effectLst/>
                    <a:latin typeface="B Nazanin" panose="00000400000000000000" pitchFamily="2" charset="-78"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M×N</a:t>
                </a:r>
                <a:r>
                  <a:rPr lang="en-US" i="1" dirty="0">
                    <a:effectLst/>
                    <a:latin typeface="B Nazanin" panose="00000400000000000000" pitchFamily="2" charset="-78"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i="1" dirty="0">
                    <a:effectLst/>
                    <a:latin typeface="B Nazanin" panose="00000400000000000000" pitchFamily="2" charset="-78"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که </a:t>
                </a:r>
                <a:r>
                  <a:rPr lang="en-US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M</a:t>
                </a:r>
                <a:r>
                  <a:rPr lang="fa-IR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تعداد نقاط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FFT</a:t>
                </a:r>
                <a:r>
                  <a:rPr lang="fa-IR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مورد استفاده برای محاسبه 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B Nazanin" panose="00000400000000000000" pitchFamily="2" charset="-78"/>
                  </a:rPr>
                  <a:t>TFD</a:t>
                </a:r>
                <a:r>
                  <a:rPr lang="en-US" sz="2000" dirty="0">
                    <a:effectLst/>
                    <a:latin typeface="B Nazanin" panose="00000400000000000000" pitchFamily="2" charset="-78"/>
                    <a:ea typeface="Calibri" panose="020F050202020403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effectLst/>
                    <a:latin typeface="B Nazanin" panose="00000400000000000000" pitchFamily="2" charset="-78"/>
                    <a:ea typeface="Calibri" panose="020F0502020204030204" pitchFamily="34" charset="0"/>
                    <a:cs typeface="B Nazanin" panose="00000400000000000000" pitchFamily="2" charset="-78"/>
                  </a:rPr>
                  <a:t>است.</a:t>
                </a:r>
                <a:endParaRPr lang="fa-IR" sz="2000" dirty="0">
                  <a:cs typeface="B Nazanin" panose="00000400000000000000" pitchFamily="2" charset="-7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A7E714-A095-FE07-2F85-5CE8FA117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84" y="1772816"/>
                <a:ext cx="10501808" cy="1323439"/>
              </a:xfrm>
              <a:prstGeom prst="rect">
                <a:avLst/>
              </a:prstGeom>
              <a:blipFill>
                <a:blip r:embed="rId2"/>
                <a:stretch>
                  <a:fillRect l="-1161" t="-2765" r="-638" b="-8295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529F4F7-4521-D1B5-1215-274B851A1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84" y="4653136"/>
            <a:ext cx="5965304" cy="1008112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CA4F11-4ED0-D5AE-E16B-66DF63A63240}"/>
              </a:ext>
            </a:extLst>
          </p:cNvPr>
          <p:cNvSpPr txBox="1"/>
          <p:nvPr/>
        </p:nvSpPr>
        <p:spPr>
          <a:xfrm>
            <a:off x="7536160" y="4926359"/>
            <a:ext cx="86409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400" dirty="0">
                <a:cs typeface="B Nazanin" panose="00000400000000000000" pitchFamily="2" charset="-78"/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D352D-2AEF-AB37-DC0B-6B3A7E88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A361FA-D7C9-8352-1C63-112415A0D2FE}"/>
              </a:ext>
            </a:extLst>
          </p:cNvPr>
          <p:cNvSpPr txBox="1"/>
          <p:nvPr/>
        </p:nvSpPr>
        <p:spPr>
          <a:xfrm>
            <a:off x="335360" y="620688"/>
            <a:ext cx="11521280" cy="49306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algn="just" rtl="1">
              <a:lnSpc>
                <a:spcPct val="150000"/>
              </a:lnSpc>
              <a:spcBef>
                <a:spcPts val="200"/>
              </a:spcBef>
            </a:pPr>
            <a:r>
              <a:rPr lang="fa-IR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ویژگی‌های</a:t>
            </a:r>
            <a:r>
              <a:rPr lang="fa-IR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 زمان – فرکانس</a:t>
            </a:r>
          </a:p>
          <a:p>
            <a:pPr lvl="1" algn="just" rtl="1">
              <a:lnSpc>
                <a:spcPct val="150000"/>
              </a:lnSpc>
              <a:spcBef>
                <a:spcPts val="200"/>
              </a:spcBef>
            </a:pPr>
            <a:endParaRPr lang="fa-IR" sz="20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914400" lvl="1" indent="-457200" algn="just" rtl="1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fa-IR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انرژی سیگنال</a:t>
            </a:r>
          </a:p>
          <a:p>
            <a:pPr marL="914400" lvl="1" indent="-457200" algn="just" rtl="1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fa-IR" sz="2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ویژگی‌های</a:t>
            </a:r>
            <a:r>
              <a:rPr lang="fa-IR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زمان </a:t>
            </a:r>
            <a:r>
              <a:rPr lang="fa-IR" sz="2000" b="1" dirty="0">
                <a:effectLst/>
                <a:ea typeface="Calibri" panose="020F0502020204030204" pitchFamily="34" charset="0"/>
                <a:cs typeface="Sakkal Majalla" panose="02000000000000000000" pitchFamily="2" charset="-78"/>
              </a:rPr>
              <a:t>–</a:t>
            </a:r>
            <a:r>
              <a:rPr lang="fa-IR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فرکانس بر اساس فرکانس </a:t>
            </a:r>
            <a:r>
              <a:rPr lang="fa-IR" sz="2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لحظه‌ای</a:t>
            </a:r>
            <a:endParaRPr lang="fa-IR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914400" lvl="1" indent="-457200" algn="just" rtl="1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fa-IR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معیار تمرکز انرژی</a:t>
            </a:r>
          </a:p>
          <a:p>
            <a:pPr marL="914400" lvl="1" indent="-457200" algn="just" rtl="1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fa-IR" sz="2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آنتروپی</a:t>
            </a:r>
            <a:r>
              <a:rPr lang="fa-IR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شانون</a:t>
            </a:r>
            <a:endParaRPr lang="fa-IR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914400" lvl="1" indent="-457200" algn="just" rtl="1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fa-IR" sz="20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آنتروپی</a:t>
            </a:r>
            <a:r>
              <a:rPr lang="fa-IR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Renyi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914400" lvl="1" indent="-457200" algn="just" rtl="1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fa-I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همواری</a:t>
            </a:r>
            <a:r>
              <a:rPr lang="fa-IR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TFD </a:t>
            </a:r>
            <a:r>
              <a:rPr lang="fa-I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سیگنال</a:t>
            </a:r>
          </a:p>
          <a:p>
            <a:pPr marL="914400" lvl="1" indent="-457200" algn="just" rtl="1">
              <a:lnSpc>
                <a:spcPct val="150000"/>
              </a:lnSpc>
              <a:spcBef>
                <a:spcPts val="200"/>
              </a:spcBef>
              <a:buFont typeface="+mj-lt"/>
              <a:buAutoNum type="arabicPeriod"/>
            </a:pPr>
            <a:r>
              <a:rPr lang="fa-IR" sz="2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ویژگی‌های</a:t>
            </a:r>
            <a:r>
              <a:rPr lang="fa-IR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مبتنی بر تجزیه مقدار تکین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(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SVD) </a:t>
            </a:r>
            <a:endParaRPr lang="fa-IR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lvl="1" algn="just" rtl="1">
              <a:lnSpc>
                <a:spcPct val="150000"/>
              </a:lnSpc>
              <a:spcBef>
                <a:spcPts val="200"/>
              </a:spcBef>
            </a:pPr>
            <a:endParaRPr lang="en-US" sz="20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0623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BBDB1-941B-C1A2-8D17-204794ED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548680"/>
            <a:ext cx="10796736" cy="685800"/>
          </a:xfrm>
        </p:spPr>
        <p:txBody>
          <a:bodyPr>
            <a:normAutofit/>
          </a:bodyPr>
          <a:lstStyle/>
          <a:p>
            <a:pPr algn="r"/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8.   </a:t>
            </a:r>
            <a:r>
              <a:rPr kumimoji="0" lang="fa-IR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ویژگی‌های</a:t>
            </a: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مبتنی بر پردازش تصاویر </a:t>
            </a:r>
            <a:r>
              <a:rPr kumimoji="0" lang="fa-IR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توزیع‌های</a:t>
            </a:r>
            <a:r>
              <a:rPr kumimoji="0" lang="fa-I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زمان-فرکانس</a:t>
            </a:r>
            <a:endParaRPr lang="fa-IR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240BF-35BB-06A1-5575-7F8C1BC5B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5440" y="1700808"/>
            <a:ext cx="10441160" cy="1584176"/>
          </a:xfrm>
        </p:spPr>
        <p:txBody>
          <a:bodyPr/>
          <a:lstStyle/>
          <a:p>
            <a:pPr algn="just"/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علاوه بر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ویژگی‌های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ارائه شده در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قسمت‌های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قبل، با توجه به اینکه یک توزیع زمان - فرکانس را میتوان یک تصویر در نظر گرفت، امکان استفاده از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تکنیک‌های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پردازش تصاویر برای استخراج ویژگی از یک توزیع زمان - فرکانس وجود دارد. ابتدا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قطعه‌هایی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از تصویر توزیع زمان </a:t>
            </a:r>
            <a:r>
              <a:rPr lang="fa-IR" dirty="0">
                <a:effectLst/>
                <a:ea typeface="Calibri" panose="020F0502020204030204" pitchFamily="34" charset="0"/>
                <a:cs typeface="B Nazanin" panose="00000400000000000000" pitchFamily="2" charset="-78"/>
              </a:rPr>
              <a:t>–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فرکانس که شامل اطلاعات مهمتری هستند شناسایی شده و به یک تصویر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دودویی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تبدیل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می‌شود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نتیجه یک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ماتریس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دودویی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             خواهد بود. ویژگی های زمان - فرکانس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می‌توانند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برحسب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گشتاور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مرتبه </a:t>
            </a:r>
            <a:r>
              <a:rPr lang="fa-IR" dirty="0"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 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 ام،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ماتریس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                     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محاسبه گردند که در رابطه (2) آماده است</a:t>
            </a:r>
            <a:r>
              <a:rPr lang="fa-I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endParaRPr lang="fa-IR" dirty="0">
              <a:cs typeface="B Nazanin" panose="00000400000000000000" pitchFamily="2" charset="-78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216A711-C440-3AAF-CD33-38395079F2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733699"/>
              </p:ext>
            </p:extLst>
          </p:nvPr>
        </p:nvGraphicFramePr>
        <p:xfrm>
          <a:off x="9984432" y="2544316"/>
          <a:ext cx="7921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20" imgH="228600" progId="Equation.DSMT4">
                  <p:embed/>
                </p:oleObj>
              </mc:Choice>
              <mc:Fallback>
                <p:oleObj name="Equation" r:id="rId2" imgW="558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84432" y="2544316"/>
                        <a:ext cx="792163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EF582E7-CF3C-75CD-8358-5A0DB5E60F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536399"/>
              </p:ext>
            </p:extLst>
          </p:nvPr>
        </p:nvGraphicFramePr>
        <p:xfrm>
          <a:off x="1775520" y="2523829"/>
          <a:ext cx="1512168" cy="40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241200" progId="Equation.DSMT4">
                  <p:embed/>
                </p:oleObj>
              </mc:Choice>
              <mc:Fallback>
                <p:oleObj name="Equation" r:id="rId4" imgW="914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5520" y="2523829"/>
                        <a:ext cx="1512168" cy="40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E5D844C-10C1-2CB4-7357-4792B69998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54451"/>
              </p:ext>
            </p:extLst>
          </p:nvPr>
        </p:nvGraphicFramePr>
        <p:xfrm>
          <a:off x="4151784" y="2590800"/>
          <a:ext cx="330324" cy="288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" imgH="164880" progId="Equation.DSMT4">
                  <p:embed/>
                </p:oleObj>
              </mc:Choice>
              <mc:Fallback>
                <p:oleObj name="Equation" r:id="rId6" imgW="2286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51784" y="2590800"/>
                        <a:ext cx="330324" cy="2880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1CE1693-391B-6D7A-B46B-F305B3A803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4108005"/>
            <a:ext cx="2880320" cy="13372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7F0108-FBC4-72B6-31D6-CDE29F8D8E0C}"/>
              </a:ext>
            </a:extLst>
          </p:cNvPr>
          <p:cNvSpPr txBox="1"/>
          <p:nvPr/>
        </p:nvSpPr>
        <p:spPr>
          <a:xfrm>
            <a:off x="4727848" y="4545781"/>
            <a:ext cx="72008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400" dirty="0">
                <a:solidFill>
                  <a:schemeClr val="bg1"/>
                </a:solidFill>
                <a:cs typeface="B Nazanin" panose="00000400000000000000" pitchFamily="2" charset="-78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91830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BF2037-995D-37F6-1F65-27352ED72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04664"/>
            <a:ext cx="11089232" cy="1020119"/>
          </a:xfrm>
        </p:spPr>
        <p:txBody>
          <a:bodyPr>
            <a:normAutofit fontScale="90000"/>
          </a:bodyPr>
          <a:lstStyle/>
          <a:p>
            <a:pPr algn="r"/>
            <a:r>
              <a:rPr lang="fa-IR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2  Elham" panose="00000400000000000000" pitchFamily="2" charset="-78"/>
              </a:rPr>
              <a:t>پیش‌پردازش</a:t>
            </a:r>
            <a:b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</a:br>
            <a:endParaRPr lang="fa-I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C85A7-B768-DE0F-82B2-63DEEFB520CA}"/>
              </a:ext>
            </a:extLst>
          </p:cNvPr>
          <p:cNvSpPr txBox="1"/>
          <p:nvPr/>
        </p:nvSpPr>
        <p:spPr>
          <a:xfrm>
            <a:off x="551384" y="2132856"/>
            <a:ext cx="11089232" cy="50987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lvl="0" indent="-342900" algn="justLow" rtl="1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a-I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نرمال‌سازی</a:t>
            </a:r>
            <a:r>
              <a:rPr lang="fa-I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داده‌ها</a:t>
            </a:r>
            <a:r>
              <a:rPr lang="fa-I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(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Dataset Normalization</a:t>
            </a:r>
            <a:r>
              <a:rPr lang="fa-IR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 :</a:t>
            </a:r>
          </a:p>
          <a:p>
            <a:pPr lvl="0" algn="justLow" rtl="1">
              <a:lnSpc>
                <a:spcPct val="115000"/>
              </a:lnSpc>
              <a:spcAft>
                <a:spcPts val="800"/>
              </a:spcAft>
            </a:pPr>
            <a:r>
              <a:rPr lang="fa-IR" sz="1800" dirty="0">
                <a:solidFill>
                  <a:srgbClr val="000000"/>
                </a:solidFill>
                <a:effectLst/>
                <a:latin typeface="BYekan"/>
                <a:ea typeface="Calibri" panose="020F0502020204030204" pitchFamily="34" charset="0"/>
                <a:cs typeface="B Nazanin" panose="00000400000000000000" pitchFamily="2" charset="-78"/>
              </a:rPr>
              <a:t>یک مفهوم از نرمال کردن، که به استاندارد کردن نیز موسوم است و در تحلیل </a:t>
            </a:r>
            <a:r>
              <a:rPr lang="fa-IR" sz="1800" dirty="0" err="1">
                <a:solidFill>
                  <a:srgbClr val="000000"/>
                </a:solidFill>
                <a:effectLst/>
                <a:latin typeface="BYekan"/>
                <a:ea typeface="Calibri" panose="020F0502020204030204" pitchFamily="34" charset="0"/>
                <a:cs typeface="B Nazanin" panose="00000400000000000000" pitchFamily="2" charset="-78"/>
              </a:rPr>
              <a:t>شبکه‌های</a:t>
            </a:r>
            <a:r>
              <a:rPr lang="fa-IR" sz="1800" dirty="0">
                <a:solidFill>
                  <a:srgbClr val="000000"/>
                </a:solidFill>
                <a:effectLst/>
                <a:latin typeface="BYekan"/>
                <a:ea typeface="Calibri" panose="020F0502020204030204" pitchFamily="34" charset="0"/>
                <a:cs typeface="B Nazanin" panose="00000400000000000000" pitchFamily="2" charset="-78"/>
              </a:rPr>
              <a:t> عصبی مصنوعی و تحلیل پوششی </a:t>
            </a:r>
            <a:r>
              <a:rPr lang="fa-IR" sz="1800" dirty="0" err="1">
                <a:solidFill>
                  <a:srgbClr val="000000"/>
                </a:solidFill>
                <a:effectLst/>
                <a:latin typeface="BYekan"/>
                <a:ea typeface="Calibri" panose="020F0502020204030204" pitchFamily="34" charset="0"/>
                <a:cs typeface="B Nazanin" panose="00000400000000000000" pitchFamily="2" charset="-78"/>
              </a:rPr>
              <a:t>داده‌ها</a:t>
            </a:r>
            <a:r>
              <a:rPr lang="fa-IR" sz="1800" dirty="0">
                <a:solidFill>
                  <a:srgbClr val="000000"/>
                </a:solidFill>
                <a:effectLst/>
                <a:latin typeface="BYekan"/>
                <a:ea typeface="Calibri" panose="020F0502020204030204" pitchFamily="34" charset="0"/>
                <a:cs typeface="B Nazanin" panose="00000400000000000000" pitchFamily="2" charset="-78"/>
              </a:rPr>
              <a:t> کاربرد دارد. برای استاندارد کردن یک عنصر باید آن عنصر را منهای میانگین کرده و بر انحراف معیار تقسیم نمایید. در اینجا برای نرمال کردن یک عنصر باید آن عنصر را منهای </a:t>
            </a:r>
            <a:r>
              <a:rPr lang="fa-IR" sz="1800" dirty="0" err="1">
                <a:solidFill>
                  <a:srgbClr val="000000"/>
                </a:solidFill>
                <a:effectLst/>
                <a:latin typeface="BYekan"/>
                <a:ea typeface="Calibri" panose="020F0502020204030204" pitchFamily="34" charset="0"/>
                <a:cs typeface="B Nazanin" panose="00000400000000000000" pitchFamily="2" charset="-78"/>
              </a:rPr>
              <a:t>مینیمم</a:t>
            </a:r>
            <a:r>
              <a:rPr lang="fa-IR" sz="1800" dirty="0">
                <a:solidFill>
                  <a:srgbClr val="000000"/>
                </a:solidFill>
                <a:effectLst/>
                <a:latin typeface="BYekan"/>
                <a:ea typeface="Calibri" panose="020F0502020204030204" pitchFamily="34" charset="0"/>
                <a:cs typeface="B Nazanin" panose="00000400000000000000" pitchFamily="2" charset="-78"/>
              </a:rPr>
              <a:t> کرده و بر دامنه تغییرات تقسیم نمایید.</a:t>
            </a:r>
          </a:p>
          <a:p>
            <a:pPr lvl="0" algn="justLow" rtl="1">
              <a:lnSpc>
                <a:spcPct val="115000"/>
              </a:lnSpc>
              <a:spcAft>
                <a:spcPts val="800"/>
              </a:spcAft>
            </a:pPr>
            <a:endParaRPr lang="fa-IR" sz="1800" b="1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lvl="0" indent="-342900" algn="justLow" rtl="1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a-IR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اسپکتروگرام</a:t>
            </a:r>
            <a:r>
              <a:rPr lang="fa-I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: پردازش صوت با استفاده از روش های پردازش تصویر :</a:t>
            </a:r>
          </a:p>
          <a:p>
            <a:pPr lvl="0" algn="justLow" rtl="1">
              <a:lnSpc>
                <a:spcPct val="115000"/>
              </a:lnSpc>
              <a:spcAft>
                <a:spcPts val="800"/>
              </a:spcAft>
            </a:pP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اسپکتروگرام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نمایشی از طیف فرکانسی صوت یا دیگر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سیگنال‌هایی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است که نسبت به زمان تغییرات زیادی دارند.</a:t>
            </a:r>
          </a:p>
          <a:p>
            <a:pPr lvl="0" algn="justLow" rtl="1">
              <a:lnSpc>
                <a:spcPct val="115000"/>
              </a:lnSpc>
              <a:spcAft>
                <a:spcPts val="800"/>
              </a:spcAft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lvl="0" indent="-342900" algn="justLow" rtl="1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a-I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روش کدبندی وان هات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(One Hot Encoding)</a:t>
            </a:r>
            <a:r>
              <a:rPr lang="fa-IR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:</a:t>
            </a:r>
          </a:p>
          <a:p>
            <a:pPr lvl="0" algn="justLow" rtl="1">
              <a:lnSpc>
                <a:spcPct val="115000"/>
              </a:lnSpc>
              <a:spcAft>
                <a:spcPts val="800"/>
              </a:spcAft>
            </a:pP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این نوع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کدگذاری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به مدل این امکان را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می‌دهد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تا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کلاس‌ها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را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به‌عنوان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موجودیت‌های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مجزا و مستقل، به جای مقادیر ترتیبی در مقیاس پیوسته، در نظر بگیرد. این می تواند به بهبود عملکرد مدل با اجازه دادن به آن برای یادگیری مرزهای تصمیم گیری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دقیق‌تر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بین </a:t>
            </a:r>
            <a:r>
              <a:rPr lang="fa-IR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کلاس‌ها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کمک کند.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lvl="0" indent="-342900" algn="justLow" rtl="1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fa-IR" sz="1800" b="1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lvl="0" indent="-342900" algn="justLow" rtl="1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8889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476672"/>
            <a:ext cx="3932237" cy="5927176"/>
          </a:xfrm>
        </p:spPr>
        <p:txBody>
          <a:bodyPr/>
          <a:lstStyle/>
          <a:p>
            <a:pPr indent="144145" algn="justLow" rtl="1">
              <a:lnSpc>
                <a:spcPct val="112000"/>
              </a:lnSpc>
              <a:spcAft>
                <a:spcPts val="800"/>
              </a:spcAft>
            </a:pP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شکل 4-1 : نمایش انرژی و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اسپکتروگرام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یک فایل صوتی (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a0007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algn="justLow"/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تمامی فایل های صوتی به جهت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یکسان‌سازی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داده‌ها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به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صوت‌های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5 ثانیه ای تبدیل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سپس، کد با استفاده از تابع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cv2.imread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تمام تصاویر استخراج شده از فایل های صوتی را خوانده و با استفاده از تابع </a:t>
            </a:r>
            <a:r>
              <a:rPr lang="en-US" sz="2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transform.resize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آنها را به اندازه 3×128×128 تغییر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می‌دهد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سپس، با استفاده از تابع </a:t>
            </a:r>
            <a:r>
              <a:rPr lang="en-US" sz="2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np.asarray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آرایه های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نامپای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مربوط به تصاویر را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می‌سازد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همچنین، کد با استفاده از تابع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open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فایل های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header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مربوط به فایل های صوتی را باز کرده و برچسب کلاس آنها را به صورت 0 یا 1 مشخص می کند. در صورت نیاز، کد با استفاده از لایه های </a:t>
            </a:r>
            <a:r>
              <a:rPr lang="en-US" sz="2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data_augmentation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تصاویر را به صورت تصادفی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چرخانده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نمونه های جدید را به داده ها اضافه می کند.</a:t>
            </a:r>
            <a:endParaRPr lang="en-US" sz="2000" dirty="0">
              <a:cs typeface="B Nazanin" panose="00000400000000000000" pitchFamily="2" charset="-78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42B72D8-9789-1F38-3CFB-7AA1EFDD271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" r="497"/>
          <a:stretch>
            <a:fillRect/>
          </a:stretch>
        </p:blipFill>
        <p:spPr bwMode="auto"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92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55752E2-3FA3-8340-967E-525918607FC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380" r="238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BE226-55B8-0BAF-7AB0-8F8ADB675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35240" y="476672"/>
            <a:ext cx="3932237" cy="5927176"/>
          </a:xfrm>
        </p:spPr>
        <p:txBody>
          <a:bodyPr>
            <a:normAutofit/>
          </a:bodyPr>
          <a:lstStyle/>
          <a:p>
            <a:pPr algn="justLow"/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شکل 4- 2 : نمایش 9 نمونه از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اسپکتروگرام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ها به صورت تصادفی( پس از انجام </a:t>
            </a:r>
            <a:r>
              <a:rPr lang="en-US" sz="2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data_augmentation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</a:t>
            </a:r>
            <a:endParaRPr lang="fa-IR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4216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D2C1F8-FAB2-B04A-AD78-180E0B04D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99220"/>
            <a:ext cx="11377264" cy="1471172"/>
          </a:xfrm>
        </p:spPr>
        <p:txBody>
          <a:bodyPr>
            <a:normAutofit/>
          </a:bodyPr>
          <a:lstStyle/>
          <a:p>
            <a:pPr marL="742950" lvl="1" indent="-285750" algn="r" rtl="1">
              <a:lnSpc>
                <a:spcPct val="150000"/>
              </a:lnSpc>
              <a:spcBef>
                <a:spcPts val="200"/>
              </a:spcBef>
            </a:pPr>
            <a:r>
              <a:rPr lang="fa-IR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2  Elham" panose="00000400000000000000" pitchFamily="2" charset="-78"/>
              </a:rPr>
              <a:t>ساختن و آموزش مدل</a:t>
            </a:r>
            <a:r>
              <a:rPr lang="en-US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2  Elham" panose="00000400000000000000" pitchFamily="2" charset="-78"/>
              </a:rPr>
              <a:t> </a:t>
            </a:r>
            <a:r>
              <a:rPr lang="en-US" sz="3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2  Elham" panose="00000400000000000000" pitchFamily="2" charset="-78"/>
              </a:rPr>
              <a:t>CNN</a:t>
            </a:r>
            <a:r>
              <a:rPr lang="en-US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2  Elham" panose="00000400000000000000" pitchFamily="2" charset="-78"/>
              </a:rPr>
              <a:t> </a:t>
            </a:r>
            <a:br>
              <a:rPr lang="en-US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2  Elham" panose="00000400000000000000" pitchFamily="2" charset="-78"/>
              </a:rPr>
            </a:br>
            <a:endParaRPr lang="fa-IR" dirty="0">
              <a:solidFill>
                <a:schemeClr val="bg1"/>
              </a:solidFill>
              <a:cs typeface="2  Elham" panose="000004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B145D-4D35-2032-28FC-345F0510F8C6}"/>
              </a:ext>
            </a:extLst>
          </p:cNvPr>
          <p:cNvSpPr txBox="1"/>
          <p:nvPr/>
        </p:nvSpPr>
        <p:spPr>
          <a:xfrm>
            <a:off x="623392" y="1916832"/>
            <a:ext cx="10945216" cy="147117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indent="144145" algn="justLow" rtl="1">
              <a:lnSpc>
                <a:spcPct val="112000"/>
              </a:lnSpc>
              <a:spcAft>
                <a:spcPts val="800"/>
              </a:spcAft>
            </a:pP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در مرحله ساختن و آموزش 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CNN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با استفاده از کلاس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Sequential</a:t>
            </a:r>
            <a:r>
              <a:rPr lang="en-US" sz="2000" dirty="0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یک معماری 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CNN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با چندین لایه از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کانولوشن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مکس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پولینگ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دراپ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آوت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دنس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می‌سازیم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سپس، با استفاده از تابع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model.compile</a:t>
            </a:r>
            <a:r>
              <a:rPr lang="fa-IR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مدل را با تابع هزینه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categorical_crossentropy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بهینه ساز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adamax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معیار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binary_accuracy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کامپایل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می‌کنیم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سپس، با استفاده از تابع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model.fit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مدل را با داده های آموزش و داده های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اعتبارسنجی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برای 30 دوره (</a:t>
            </a: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epoch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 آموزش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می‌دهیم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AD4BC3-5B22-D48D-EFAE-661DA6FF7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707350" y="-695954"/>
            <a:ext cx="2777300" cy="10945216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EE02B4-7F07-33CD-30D6-55C13B62042B}"/>
              </a:ext>
            </a:extLst>
          </p:cNvPr>
          <p:cNvSpPr txBox="1"/>
          <p:nvPr/>
        </p:nvSpPr>
        <p:spPr>
          <a:xfrm>
            <a:off x="6111753" y="6321737"/>
            <a:ext cx="5456855" cy="4370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indent="144145" algn="justLow" rtl="1">
              <a:lnSpc>
                <a:spcPct val="112000"/>
              </a:lnSpc>
              <a:spcAft>
                <a:spcPts val="800"/>
              </a:spcAft>
            </a:pP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شکل 4- 3 : شمای کلی از مدل استفاده شده به جهت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دسته‌بندی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2573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FBFCD5-F5C2-E03A-F32E-061565E58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168"/>
            <a:ext cx="10285784" cy="967615"/>
          </a:xfrm>
        </p:spPr>
        <p:txBody>
          <a:bodyPr anchor="ctr">
            <a:normAutofit fontScale="90000"/>
          </a:bodyPr>
          <a:lstStyle/>
          <a:p>
            <a:pPr marL="742950" lvl="1" indent="-285750" algn="r" rtl="1">
              <a:spcBef>
                <a:spcPts val="200"/>
              </a:spcBef>
            </a:pPr>
            <a:r>
              <a:rPr lang="fa-IR" sz="3600" b="1" dirty="0">
                <a:solidFill>
                  <a:schemeClr val="bg1"/>
                </a:solidFill>
                <a:effectLst/>
                <a:cs typeface="2  Elham" panose="00000400000000000000" pitchFamily="2" charset="-78"/>
              </a:rPr>
              <a:t>ارزیابی عملکرد مدل</a:t>
            </a:r>
            <a:br>
              <a:rPr lang="en-US" sz="3600" b="1" dirty="0">
                <a:solidFill>
                  <a:schemeClr val="bg1"/>
                </a:solidFill>
                <a:effectLst/>
                <a:cs typeface="2  Elham" panose="00000400000000000000" pitchFamily="2" charset="-78"/>
              </a:rPr>
            </a:br>
            <a:endParaRPr lang="fa-IR" sz="3600" dirty="0">
              <a:solidFill>
                <a:schemeClr val="bg1"/>
              </a:solidFill>
              <a:cs typeface="2  Elham" panose="00000400000000000000" pitchFamily="2" charset="-78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2477DBB-3180-A534-772D-D079BDA42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2276871"/>
            <a:ext cx="4800600" cy="313927"/>
          </a:xfrm>
        </p:spPr>
        <p:txBody>
          <a:bodyPr/>
          <a:lstStyle/>
          <a:p>
            <a:pPr indent="144145" algn="justLow" rtl="1">
              <a:lnSpc>
                <a:spcPct val="112000"/>
              </a:lnSpc>
              <a:spcAft>
                <a:spcPts val="800"/>
              </a:spcAft>
            </a:pP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شکل 4- 4 :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ماتریس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درهم ریختگی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داده‌های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تست 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endParaRPr lang="en-US" dirty="0"/>
          </a:p>
        </p:txBody>
      </p:sp>
      <p:pic>
        <p:nvPicPr>
          <p:cNvPr id="6" name="Picture Placeholder 5" descr="A screenshot of a graph">
            <a:extLst>
              <a:ext uri="{FF2B5EF4-FFF2-40B4-BE49-F238E27FC236}">
                <a16:creationId xmlns:a16="http://schemas.microsoft.com/office/drawing/2014/main" id="{94D61810-757C-73C6-DEB2-5F54E2A30F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173"/>
          <a:stretch/>
        </p:blipFill>
        <p:spPr bwMode="auto">
          <a:xfrm>
            <a:off x="1066800" y="2590799"/>
            <a:ext cx="4800600" cy="381003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EB56F704-3B5E-708A-3197-3BB8F1411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1988840"/>
            <a:ext cx="4800600" cy="4752528"/>
          </a:xfrm>
        </p:spPr>
        <p:txBody>
          <a:bodyPr>
            <a:normAutofit fontScale="70000" lnSpcReduction="20000"/>
          </a:bodyPr>
          <a:lstStyle/>
          <a:p>
            <a:pPr indent="144145" algn="justLow" rtl="1">
              <a:lnSpc>
                <a:spcPct val="112000"/>
              </a:lnSpc>
              <a:spcAft>
                <a:spcPts val="800"/>
              </a:spcAft>
            </a:pP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در مرحله ارزیابی عملکرد مدل، با استفاده از تابع 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model.evaluate</a:t>
            </a:r>
            <a:r>
              <a:rPr lang="fa-I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مدل را روی </a:t>
            </a:r>
            <a:r>
              <a:rPr lang="fa-IR" sz="2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داده‌های</a:t>
            </a: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تست قبل و بعد از آموزش ارزیابی </a:t>
            </a:r>
            <a:r>
              <a:rPr lang="fa-IR" sz="2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می‌کنیم</a:t>
            </a: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سپس، با استفاده از تابع 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model.predict</a:t>
            </a:r>
            <a:r>
              <a:rPr lang="fa-I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برچسب ها را از داده های تست </a:t>
            </a:r>
            <a:r>
              <a:rPr lang="fa-IR" sz="2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پیش‌بینی</a:t>
            </a: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می‌کنیم</a:t>
            </a: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چند نمونه صحیح را نمایش می دهیم. در نهایت، با استفاده از تابع 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confusion_matrix</a:t>
            </a:r>
            <a:r>
              <a:rPr lang="en-US" sz="2600" dirty="0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900" dirty="0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یک </a:t>
            </a:r>
            <a:r>
              <a:rPr lang="fa-IR" sz="2900" dirty="0" err="1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ماتریس</a:t>
            </a:r>
            <a:r>
              <a:rPr lang="fa-IR" sz="2900" dirty="0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 درهم ریختگی از برچسب های واقعی و پیش بینی شده می سازیم و با استفاده از تابع 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classification_report</a:t>
            </a:r>
            <a:r>
              <a:rPr lang="fa-I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گزارشی از معیارهای دقت، بازخوانی، امتیاز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F1</a:t>
            </a: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پشتیبانی برای هر کلاس چاپ می کنیم.</a:t>
            </a:r>
            <a:endParaRPr lang="en-US" sz="2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indent="144145" algn="justLow" rtl="1">
              <a:lnSpc>
                <a:spcPct val="112000"/>
              </a:lnSpc>
              <a:spcAft>
                <a:spcPts val="800"/>
              </a:spcAft>
            </a:pP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با استفاده از این </a:t>
            </a:r>
            <a:r>
              <a:rPr lang="fa-IR" sz="2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الگوریتم</a:t>
            </a: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بنده توانستم به </a:t>
            </a:r>
            <a:r>
              <a:rPr lang="en-US" sz="2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binary_accuracy</a:t>
            </a:r>
            <a:r>
              <a:rPr lang="fa-I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میانگین 92 % دست پیدا کنم. به صورت میانگین برای سایر دقت های ذکر شده نظیر </a:t>
            </a:r>
            <a:r>
              <a:rPr lang="en-US" sz="2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F1</a:t>
            </a:r>
            <a:r>
              <a:rPr lang="fa-IR" sz="2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نیز، همین عدد بدست آمده است.</a:t>
            </a:r>
            <a:endParaRPr lang="en-US" sz="2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12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956A-84C4-F75E-E520-6935FADEC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a-IR" dirty="0">
                <a:cs typeface="2  Elham" panose="00000400000000000000" pitchFamily="2" charset="-78"/>
              </a:rPr>
              <a:t>پیشنهادی برای مطالعات آینده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B9FFE2-9213-7B0D-1CE8-F97D5A95D9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5400" y="2420887"/>
            <a:ext cx="10801200" cy="3979945"/>
          </a:xfrm>
        </p:spPr>
        <p:txBody>
          <a:bodyPr/>
          <a:lstStyle/>
          <a:p>
            <a:pPr indent="0" algn="justLow" rtl="1">
              <a:lnSpc>
                <a:spcPct val="112000"/>
              </a:lnSpc>
              <a:spcAft>
                <a:spcPts val="800"/>
              </a:spcAft>
              <a:buNone/>
            </a:pP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دسته‌بندی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PCG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وظیفه شناسایی صداهای قلبی نرمال و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غیرنرمال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بر اساس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سیگنال‌های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فونوکاردیوگرام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PCG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است. یک روش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نوآورانه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ممکن برای مقالات آینده در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دسته‌بندی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PCG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استفاده از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روش‌های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یادگیری عمیق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چندنما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Multi-View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Deep Learning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 است که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می‌توانند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از اطلاعات مکمل از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نمایش‌های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مختلف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سیگنال‌های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PCG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، مانند حوزه زمان، حوزه فرکانس و حوزه زمان-فرکانس استفاده کنند.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روش‌های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یادگیری عمیق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چندنما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می‌توانند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ویژگی‌های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سطح بالا 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High-Level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 را از هر نما یاد بگیرند و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آن‌ها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را ادغام کنند تا نمایشی مستحکم و جامع از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سیگنال‌های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PCG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به دست آورند. این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می‌تواند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دقت و تعمیم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دسته‌بندی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مدل‌های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PCG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را بهبود بخشد، به خصوص برای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داده‌های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نویزی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و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ناهمگن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. مقاله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اخیری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توسط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Zhang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 همکارانش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]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54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[</a:t>
            </a:r>
            <a:r>
              <a:rPr lang="en-US" sz="2000" dirty="0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یک شبکه عمیق </a:t>
            </a:r>
            <a:r>
              <a:rPr lang="fa-IR" sz="2000" dirty="0" err="1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چندنما</a:t>
            </a:r>
            <a:r>
              <a:rPr lang="fa-IR" sz="2000" dirty="0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 بر اساس </a:t>
            </a:r>
            <a:r>
              <a:rPr lang="fa-IR" sz="2000" dirty="0" err="1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شبکه‌های</a:t>
            </a:r>
            <a:r>
              <a:rPr lang="fa-IR" sz="2000" dirty="0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 عصبی </a:t>
            </a:r>
            <a:r>
              <a:rPr lang="fa-IR" sz="2000" dirty="0" err="1">
                <a:effectLst/>
                <a:latin typeface="B Nazanin" panose="00000400000000000000" pitchFamily="2" charset="-78"/>
                <a:ea typeface="Calibri" panose="020F0502020204030204" pitchFamily="34" charset="0"/>
                <a:cs typeface="B Nazanin" panose="00000400000000000000" pitchFamily="2" charset="-78"/>
              </a:rPr>
              <a:t>پیچشی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CNNs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و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شبکه‌های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عصبی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پیچشی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گرافی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GCNs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)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برای </a:t>
            </a:r>
            <a:r>
              <a:rPr lang="fa-IR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دسته‌بندی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PCG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B Nazanin" panose="00000400000000000000" pitchFamily="2" charset="-78"/>
              </a:rPr>
              <a:t>پیشنهاد داد و نتایج برتر را در دو مجموعه داده مرجع کسب کرد.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79078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1AEC3AB-97E1-C009-FAA4-DD05015B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20688"/>
            <a:ext cx="9997752" cy="5616624"/>
          </a:xfrm>
        </p:spPr>
        <p:txBody>
          <a:bodyPr>
            <a:normAutofit/>
          </a:bodyPr>
          <a:lstStyle/>
          <a:p>
            <a:pPr algn="ctr"/>
            <a:r>
              <a:rPr lang="fa-IR" sz="4400" dirty="0">
                <a:cs typeface="2  Elham" panose="00000400000000000000" pitchFamily="2" charset="-78"/>
              </a:rPr>
              <a:t> </a:t>
            </a:r>
            <a:br>
              <a:rPr lang="fa-IR" sz="4400" dirty="0">
                <a:cs typeface="2  Elham" panose="00000400000000000000" pitchFamily="2" charset="-78"/>
              </a:rPr>
            </a:br>
            <a:br>
              <a:rPr lang="fa-IR" sz="4400" dirty="0">
                <a:cs typeface="2  Elham" panose="00000400000000000000" pitchFamily="2" charset="-78"/>
              </a:rPr>
            </a:br>
            <a:endParaRPr lang="fa-IR" sz="4400" dirty="0">
              <a:cs typeface="2  Elham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ADE6B9-9AD8-FAFA-B674-C5EF923C32A7}"/>
              </a:ext>
            </a:extLst>
          </p:cNvPr>
          <p:cNvSpPr txBox="1"/>
          <p:nvPr/>
        </p:nvSpPr>
        <p:spPr>
          <a:xfrm>
            <a:off x="233028" y="692696"/>
            <a:ext cx="11665296" cy="28007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j-ea"/>
              <a:cs typeface="2  Elham" panose="00000400000000000000" pitchFamily="2" charset="-78"/>
            </a:endParaRPr>
          </a:p>
          <a:p>
            <a:pPr algn="ctr"/>
            <a:endParaRPr lang="en-US" sz="4400" dirty="0">
              <a:solidFill>
                <a:prstClr val="white"/>
              </a:solidFill>
              <a:latin typeface="Franklin Gothic Medium"/>
              <a:ea typeface="+mj-ea"/>
              <a:cs typeface="2  Elham" panose="00000400000000000000" pitchFamily="2" charset="-78"/>
            </a:endParaRPr>
          </a:p>
          <a:p>
            <a:pPr algn="ctr"/>
            <a:br>
              <a:rPr kumimoji="0" lang="fa-I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/>
                <a:ea typeface="+mj-ea"/>
                <a:cs typeface="2  Elham" panose="00000400000000000000" pitchFamily="2" charset="-78"/>
              </a:rPr>
            </a:br>
            <a:r>
              <a:rPr kumimoji="0" lang="fa-I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/>
                <a:ea typeface="+mj-ea"/>
                <a:cs typeface="2  Elham" panose="00000400000000000000" pitchFamily="2" charset="-78"/>
              </a:rPr>
              <a:t>با تشکر از توجه و همراهی شما و دکتر ضمیری عزیز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46609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Health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15_4109default" id="{E728D685-11FC-4812-BA85-57AC6F9C9F40}" vid="{BC4E008B-95FF-4815-904E-143A8EDFC1D4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CBC288-0F4E-479D-8F69-11F8CF8D6F62}">
  <ds:schemaRefs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3C2B29A-C1CD-4C3A-A037-902991BF1F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31291B-7E16-4BF2-A964-81BB2411C9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0</TotalTime>
  <Words>2249</Words>
  <Application>Microsoft Office PowerPoint</Application>
  <PresentationFormat>Widescreen</PresentationFormat>
  <Paragraphs>79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2  Davat</vt:lpstr>
      <vt:lpstr>2  Elham</vt:lpstr>
      <vt:lpstr>Arial</vt:lpstr>
      <vt:lpstr>B Nazanin</vt:lpstr>
      <vt:lpstr>BYekan</vt:lpstr>
      <vt:lpstr>Calibri</vt:lpstr>
      <vt:lpstr>Cambria Math</vt:lpstr>
      <vt:lpstr>Franklin Gothic Medium</vt:lpstr>
      <vt:lpstr>Symbol</vt:lpstr>
      <vt:lpstr>Times New Roman</vt:lpstr>
      <vt:lpstr>Wingdings</vt:lpstr>
      <vt:lpstr>Medical Health 16x9</vt:lpstr>
      <vt:lpstr>Equation</vt:lpstr>
      <vt:lpstr>دسته‌بندی  صداهای قلب انسان مبتنی بر CNN</vt:lpstr>
      <vt:lpstr>چکیده</vt:lpstr>
      <vt:lpstr>فصل اول : پیشگفتار</vt:lpstr>
      <vt:lpstr>PowerPoint Presentation</vt:lpstr>
      <vt:lpstr>اهداف تحقیق</vt:lpstr>
      <vt:lpstr>فصل دوم : پیشینه پژوهش</vt:lpstr>
      <vt:lpstr>فصل سوم : پایگاه های داده</vt:lpstr>
      <vt:lpstr>جدول 3-1 : پراستفاده‌ترین دیتاست‌های PCG</vt:lpstr>
      <vt:lpstr>فصل چهارم : الگوریتم پیشنهادی جهت دسته‌بندی سیگنال PCG</vt:lpstr>
      <vt:lpstr>PowerPoint Presentation</vt:lpstr>
      <vt:lpstr>8.   ویژگی‌های مبتنی بر پردازش تصاویر توزیع‌های زمان-فرکانس</vt:lpstr>
      <vt:lpstr>پیش‌پردازش </vt:lpstr>
      <vt:lpstr>PowerPoint Presentation</vt:lpstr>
      <vt:lpstr>PowerPoint Presentation</vt:lpstr>
      <vt:lpstr>ساختن و آموزش مدل CNN  </vt:lpstr>
      <vt:lpstr>ارزیابی عملکرد مدل </vt:lpstr>
      <vt:lpstr>پیشنهادی برای مطالعات آینده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2024-02-15T06:47:25Z</dcterms:created>
  <dcterms:modified xsi:type="dcterms:W3CDTF">2024-02-17T16:43:03Z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0x0101007C1D5F340F01F94FA2FD29A5E6DC872E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_MarkAsFinal">
    <vt:bool>true</vt:bool>
  </property>
</Properties>
</file>